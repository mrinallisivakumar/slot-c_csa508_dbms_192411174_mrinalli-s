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5" r:id="rId9"/>
    <p:sldId id="267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48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837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 Physical Independence in the Three-Schema Architecture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800600"/>
            <a:ext cx="2194560" cy="0"/>
          </a:xfrm>
          <a:prstGeom prst="line">
            <a:avLst/>
          </a:prstGeom>
          <a:noFill/>
          <a:ln w="31750">
            <a:solidFill>
              <a:srgbClr val="21C4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983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Architecture  •  Schema Isolation  •  System Evolution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2BA6FA-24C8-7120-B99F-EBF7A589B6B1}"/>
              </a:ext>
            </a:extLst>
          </p:cNvPr>
          <p:cNvSpPr txBox="1"/>
          <p:nvPr/>
        </p:nvSpPr>
        <p:spPr>
          <a:xfrm>
            <a:off x="8192278" y="4983480"/>
            <a:ext cx="45440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Mrinalli S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192411174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CEF"/>
            </a:solidFill>
            <a:prstDash val="solid"/>
          </a:ln>
          <a:effectLst>
            <a:outerShdw blurRad="101600" dist="38100" dir="5400000" algn="bl" rotWithShape="0">
              <a:srgbClr val="1A23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/>
              <a:t>Defining Data Independence</a:t>
            </a:r>
            <a:endParaRPr lang="en-IN" sz="15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395728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concepts &amp; its purpose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70168" y="1842516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CEF"/>
            </a:solidFill>
            <a:prstDash val="solid"/>
          </a:ln>
          <a:effectLst>
            <a:outerShdw blurRad="101600" dist="38100" dir="5400000" algn="bl" rotWithShape="0">
              <a:srgbClr val="1A23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19933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21728" y="2148840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/>
              <a:t>Three-Schema Architecture</a:t>
            </a:r>
            <a:endParaRPr lang="en-IN" sz="1500" b="1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21728" y="2395728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conceptual &amp; internal level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CEF"/>
            </a:solidFill>
            <a:prstDash val="solid"/>
          </a:ln>
          <a:effectLst>
            <a:outerShdw blurRad="101600" dist="38100" dir="5400000" algn="bl" rotWithShape="0">
              <a:srgbClr val="1A23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107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410712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813048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examples &amp; scope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0168" y="3246120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CEF"/>
            </a:solidFill>
            <a:prstDash val="solid"/>
          </a:ln>
          <a:effectLst>
            <a:outerShdw blurRad="101600" dist="38100" dir="5400000" algn="bl" rotWithShape="0">
              <a:srgbClr val="1A23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98768" y="34107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21728" y="3410712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21728" y="3813048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examples &amp; scope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57155" y="4833071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CEF"/>
            </a:solidFill>
            <a:prstDash val="solid"/>
          </a:ln>
          <a:effectLst>
            <a:outerShdw blurRad="101600" dist="38100" dir="5400000" algn="bl" rotWithShape="0">
              <a:srgbClr val="1A23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19424" y="499299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442384" y="5055885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Two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42384" y="5381244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contrast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98768" y="48280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21728" y="4828032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21728" y="5230368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0F1B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1018001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E8EE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capacity to change the schema at one level of a database system without having to change the schema at the next higher level.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34542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1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 Physical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8698" y="3886200"/>
            <a:ext cx="34542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1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368698" y="4800600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Levels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68698" y="512064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Conceptual, Internal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88757" y="3886200"/>
            <a:ext cx="34542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1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88757" y="4800600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88757" y="512064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change, protect programs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Three-Schema (ANSI/SPARC)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1828800"/>
            <a:ext cx="786384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  <a:effectLst>
            <a:outerShdw blurRad="127000" dist="38100" dir="5400000" algn="bl" rotWithShape="0">
              <a:srgbClr val="1A23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071116"/>
            <a:ext cx="566928" cy="566928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6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703" y="220717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956816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Level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468880" y="235915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 &amp; application views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95848" y="2880360"/>
            <a:ext cx="0" cy="365760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874520" y="3246120"/>
            <a:ext cx="704088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blurRad="127000" dist="38100" dir="5400000" algn="bl" rotWithShape="0">
              <a:srgbClr val="1A2333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03120" y="3488436"/>
            <a:ext cx="566928" cy="566928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2" name="Image 1" descr="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183" y="3624499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3374136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Level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880360" y="377647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logical view of the whole database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5848" y="4297680"/>
            <a:ext cx="0" cy="365760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286000" y="4663440"/>
            <a:ext cx="6217920" cy="1051560"/>
          </a:xfrm>
          <a:prstGeom prst="roundRect">
            <a:avLst>
              <a:gd name="adj" fmla="val 7826"/>
            </a:avLst>
          </a:prstGeom>
          <a:solidFill>
            <a:srgbClr val="21295C"/>
          </a:solidFill>
          <a:ln/>
          <a:effectLst>
            <a:outerShdw blurRad="127000" dist="38100" dir="5400000" algn="bl" rotWithShape="0">
              <a:srgbClr val="1A2333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514600" y="4905756"/>
            <a:ext cx="566928" cy="566928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8" name="Image 2" descr="icons/hardDr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663" y="5041819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9184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Level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3291840" y="51937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structures &amp; access paths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sit closest to External; storage sits at Internal — Conceptual is the stable hub between them.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2286000"/>
            <a:ext cx="1737360" cy="17373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4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2702966"/>
            <a:ext cx="903427" cy="903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976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Level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OF 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Level 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663440" y="16916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topmost level, closest to users. Each user or application sees only a customized view — a subset or reshaping of the database relevant to their needs.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288036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309981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3099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295351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views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49240" y="3227832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users can see different views of the same underlying data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663440" y="3776472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399592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3995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49240" y="384962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irrelevant detail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49240" y="4123944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exposes only the fields and rows a user actually needs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663440" y="4672584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48920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49240" y="4745736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boundary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49240" y="5020056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columns/tables can be excluded from a given view entirely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2286000"/>
            <a:ext cx="1737360" cy="17373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4" name="Image 0" descr="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2702966"/>
            <a:ext cx="903427" cy="903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976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Level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OF 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Level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663440" y="16916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view — a single, unified logical structure describing all data, relationships, and constraints for the entire organization, independent of any one application.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288036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3099816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3099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295351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49240" y="3227832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entities, attributes and relationships for everyone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663440" y="3776472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399592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3995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49240" y="384962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physical detail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49240" y="4123944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and modelers work here without touching storage internals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663440" y="4672584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489204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49240" y="4745736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external views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49240" y="5020056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view is derived from this logical structure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2286000"/>
            <a:ext cx="1737360" cy="17373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4" name="Image 0" descr="icons/hardDr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2702966"/>
            <a:ext cx="903427" cy="903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976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Level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OF 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2880" y="594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Level </a:t>
            </a:r>
            <a:endParaRPr lang="en-US" sz="2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663440" y="16916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level — describes how data is actually stored: file organization, indexes, access paths, and storage allocation on physical media.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288036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3099816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3099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295351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structures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49240" y="3227832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record formats, file organization, and compression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663440" y="3776472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3995928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3995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49240" y="384962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paths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49240" y="4123944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hashing schemes that speed up retrieval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663440" y="4672584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4892040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49240" y="4745736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ground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49240" y="5020056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DBAs optimize without disturbing logical design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Types of Data Independence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4328" cy="4206240"/>
          </a:xfrm>
          <a:prstGeom prst="roundRect">
            <a:avLst>
              <a:gd name="adj" fmla="val 2174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  <a:effectLst>
            <a:outerShdw blurRad="101600" dist="38100" dir="5400000" algn="bl" rotWithShape="0">
              <a:srgbClr val="1A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364328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23810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54680"/>
            <a:ext cx="4632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46328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CONCEPTUAL schema without affecting external schemas or application programs.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4892040"/>
            <a:ext cx="4632808" cy="0"/>
          </a:xfrm>
          <a:prstGeom prst="line">
            <a:avLst/>
          </a:prstGeom>
          <a:noFill/>
          <a:ln w="12700">
            <a:solidFill>
              <a:srgbClr val="E7EC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029200"/>
            <a:ext cx="4632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against: adding entities, attributes, relationships; restructuring tables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78728" y="1828800"/>
            <a:ext cx="5364328" cy="4206240"/>
          </a:xfrm>
          <a:prstGeom prst="roundRect">
            <a:avLst>
              <a:gd name="adj" fmla="val 2174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  <a:effectLst>
            <a:outerShdw blurRad="101600" dist="38100" dir="5400000" algn="bl" rotWithShape="0">
              <a:srgbClr val="1A2333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78728" y="1828800"/>
            <a:ext cx="5364328" cy="1097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Shape 11"/>
          <p:cNvSpPr/>
          <p:nvPr/>
        </p:nvSpPr>
        <p:spPr>
          <a:xfrm>
            <a:off x="6644488" y="219456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1" descr="icons/hardDr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025" y="2381098"/>
            <a:ext cx="404165" cy="4041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44488" y="3154680"/>
            <a:ext cx="4632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644488" y="3794760"/>
            <a:ext cx="46328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INTERNAL schema without affecting the conceptual or external schemas.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644488" y="4892040"/>
            <a:ext cx="4632808" cy="0"/>
          </a:xfrm>
          <a:prstGeom prst="line">
            <a:avLst/>
          </a:prstGeom>
          <a:noFill/>
          <a:ln w="12700">
            <a:solidFill>
              <a:srgbClr val="E7EC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44488" y="5029200"/>
            <a:ext cx="4632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against: new storage devices, file reorganization, new indexes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INDEPENDENCE —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Logical Independence Protects Against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4298" cy="3566160"/>
          </a:xfrm>
          <a:prstGeom prst="roundRect">
            <a:avLst>
              <a:gd name="adj" fmla="val 2647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  <a:effectLst>
            <a:outerShdw blurRad="76200" dist="25400" dir="5400000" algn="bl" rotWithShape="0">
              <a:srgbClr val="1A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2889" y="22402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481" y="24048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Attributes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299709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column (e.g. "email") is added to a table — existing queries that don't use it keep working.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8" y="1920240"/>
            <a:ext cx="3454298" cy="3566160"/>
          </a:xfrm>
          <a:prstGeom prst="roundRect">
            <a:avLst>
              <a:gd name="adj" fmla="val 2647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  <a:effectLst>
            <a:outerShdw blurRad="76200" dist="25400" dir="5400000" algn="bl" rotWithShape="0">
              <a:srgbClr val="1A23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52948" y="22402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540" y="24048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7298" y="315468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Tables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7298" y="3749040"/>
            <a:ext cx="299709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or merging tables at the conceptual level without breaking existing views.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8757" y="1920240"/>
            <a:ext cx="3454298" cy="3566160"/>
          </a:xfrm>
          <a:prstGeom prst="roundRect">
            <a:avLst>
              <a:gd name="adj" fmla="val 2647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  <a:effectLst>
            <a:outerShdw blurRad="76200" dist="25400" dir="5400000" algn="bl" rotWithShape="0">
              <a:srgbClr val="1A23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73006" y="22402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7598" y="24048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7357" y="315468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Relationships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7357" y="3749040"/>
            <a:ext cx="299709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 new entity or relationship in the logical model without touching old code.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 —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Physical Independence Protects Against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4298" cy="3566160"/>
          </a:xfrm>
          <a:prstGeom prst="roundRect">
            <a:avLst>
              <a:gd name="adj" fmla="val 2647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  <a:effectLst>
            <a:outerShdw blurRad="76200" dist="25400" dir="5400000" algn="bl" rotWithShape="0">
              <a:srgbClr val="1A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2889" y="22402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cons/mo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481" y="24048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Migration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299709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data to new disks, SSDs, or cloud storage tiers with zero application impact.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8" y="1920240"/>
            <a:ext cx="3454298" cy="3566160"/>
          </a:xfrm>
          <a:prstGeom prst="roundRect">
            <a:avLst>
              <a:gd name="adj" fmla="val 2647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  <a:effectLst>
            <a:outerShdw blurRad="76200" dist="25400" dir="5400000" algn="bl" rotWithShape="0">
              <a:srgbClr val="1A23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52948" y="22402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540" y="24048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7298" y="315468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Reorganization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7298" y="3749040"/>
            <a:ext cx="299709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from sequential to hashed or indexed file organization for speed.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8757" y="1920240"/>
            <a:ext cx="3454298" cy="3566160"/>
          </a:xfrm>
          <a:prstGeom prst="roundRect">
            <a:avLst>
              <a:gd name="adj" fmla="val 2647"/>
            </a:avLst>
          </a:prstGeom>
          <a:solidFill>
            <a:srgbClr val="F7F9FA"/>
          </a:solidFill>
          <a:ln w="12700">
            <a:solidFill>
              <a:srgbClr val="E7ECEF"/>
            </a:solidFill>
            <a:prstDash val="solid"/>
          </a:ln>
          <a:effectLst>
            <a:outerShdw blurRad="76200" dist="25400" dir="5400000" algn="bl" rotWithShape="0">
              <a:srgbClr val="1A23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73006" y="22402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icons/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7598" y="24048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7357" y="315468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Changes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7357" y="3749040"/>
            <a:ext cx="299709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Adding, removing, or rebuilding indexes to optimize query performance.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614</Words>
  <Application>Microsoft Office PowerPoint</Application>
  <PresentationFormat>Widescreen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Mrinalli Sivakumar</cp:lastModifiedBy>
  <cp:revision>3</cp:revision>
  <dcterms:created xsi:type="dcterms:W3CDTF">2026-07-21T04:27:40Z</dcterms:created>
  <dcterms:modified xsi:type="dcterms:W3CDTF">2026-07-23T08:22:08Z</dcterms:modified>
</cp:coreProperties>
</file>